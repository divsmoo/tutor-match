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embeddedFontLst>
    <p:embeddedFont>
      <p:font typeface="Tahoma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Tahoma-bold.fntdata"/><Relationship Id="rId12" Type="http://schemas.openxmlformats.org/officeDocument/2006/relationships/font" Target="fonts/Tahoma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d0eb5c93fb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56" name="Google Shape;56;g3d0eb5c93fb_0_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Scenario 1: Student Indicates Interest (Composite &amp; Asynchronous Notification)</a:t>
            </a:r>
            <a:endParaRPr b="1"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Browse: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Student UI sends a synchronous HTTP GET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Tutors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atomic microservice to display the list of tutors.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Select: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student selects a tutor. The UI sends an HTTP POST with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student_id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tutor_id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to an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Indicate Interest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composite microservice.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Data Fetch: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composite service sends an HTTP GET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Tutors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to retrieve the tutor's contact information.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Save State: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composite service sends an HTTP POST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Interest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atomic microservice to create a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PENDING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request in its exclusive database.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Async Event: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composite service drops an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InterestCreated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message (containing the contact info) into RabbitMQ.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Notify: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Notification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consumes the message and triggers an external email/SMS API to alert the tutor.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●"/>
            </a:pPr>
            <a:r>
              <a:rPr i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Business Exception: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If the tutor does not reply within 48 hours, a scheduled job updates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Interest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database to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EXPIRED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and notifies the student to try again.</a:t>
            </a:r>
            <a:endParaRPr/>
          </a:p>
        </p:txBody>
      </p:sp>
      <p:sp>
        <p:nvSpPr>
          <p:cNvPr id="57" name="Google Shape;57;g3d0eb5c93fb_0_0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0eb5c93fb_0_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3" name="Google Shape;63;g3d0eb5c93fb_0_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Scenario 2: Tutor Reviews Interested Students (Choreography)</a:t>
            </a:r>
            <a:endParaRPr b="1"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Review: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Tutor UI sends an HTTP GET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Interest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to fetch pending requests.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Decision Input: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tutor accepts a student and selects available dates. The UI sends an HTTP PUT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Interest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with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{"status": "ACCEPTED", "proposed_dates": [...]}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Update State: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Interest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updates the record in its database.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Choreography Trigger: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Interest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publishes an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InterestAccepted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message (containing the dates) to RabbitMQ.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Independent Reactions:</a:t>
            </a:r>
            <a:endParaRPr b="1"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52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○"/>
            </a:pP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consumes the message and creates a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PENDING_STUDENT_CONFIRMATION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record with the proposed dates.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52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○"/>
            </a:pP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Notification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consumes the same message and emails the student to prompt their selection.</a:t>
            </a:r>
            <a:endParaRPr sz="26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3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g3d0eb5c93fb_0_6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0eb5c93fb_0_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73" name="Google Shape;73;g3d0eb5c93fb_0_1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Scenario 3: Booking Coordination &amp; Confirmation (Orchestration &amp; Rollback)</a:t>
            </a:r>
            <a:endParaRPr b="1"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View Dates: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Student UI sends an HTTP GET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to view the tutor's proposed dates.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Path A (Rollback):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* The student cancels. The UI sends an HTTP PUT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(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{"status": "CANCELLED"}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52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○"/>
            </a:pP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frees the schedule in its DB and publishes a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TrialCancelled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message to RabbitMQ to notify the tutor.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Path B (Proceed to Pay):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* The student selects a date. The UI sends an HTTP POST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52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○"/>
            </a:pP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temporarily locks the slot as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PENDING_PAYMENT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Payment Orchestration: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acts as an orchestrator and sends a synchronous HTTP POST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Payment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External API: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Payment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invokes an external mock payment gateway (sandbox version) to process the transaction.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Confirmation: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Upon success,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Payment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returns an HTTP 200 OK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service.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updates the status to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CONFIRMED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and drops a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LessonConfirmed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message into RabbitMQ.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Notification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emails the final calendar invite to both parties.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g3d0eb5c93fb_0_15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0eb5c93fb_0_2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0" name="Google Shape;80;g3d0eb5c93fb_0_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Scenario 3: Booking Coordination &amp; Confirmation (Orchestration &amp; Rollback)</a:t>
            </a:r>
            <a:endParaRPr b="1"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View Dates: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Student UI sends an HTTP GET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to view the tutor's proposed dates.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Path A (Rollback):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* The student cancels. The UI sends an HTTP PUT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(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{"status": "CANCELLED"}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52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○"/>
            </a:pP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frees the schedule in its DB and publishes a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TrialCancelled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message to RabbitMQ to notify the tutor.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Path B (Proceed to Pay):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* The student selects a date. The UI sends an HTTP POST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52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○"/>
            </a:pP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temporarily locks the slot as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PENDING_PAYMENT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Payment Orchestration: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acts as an orchestrator and sends a synchronous HTTP POST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Payment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External API: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Payment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invokes an external mock payment gateway (sandbox version) to process the transaction.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Confirmation: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Upon success,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Payment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returns an HTTP 200 OK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service.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updates the status to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CONFIRMED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and drops a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LessonConfirmed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message into RabbitMQ.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Notification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emails the final calendar invite to both parties.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d0eb5c93fb_0_21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0eb5c93fb_0_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7" name="Google Shape;87;g3d0eb5c93fb_0_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3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Scenario 3: Booking Coordination &amp; Confirmation (Orchestration &amp; Rollback)</a:t>
            </a:r>
            <a:endParaRPr b="1" sz="13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View Dates: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Student UI sends an HTTP GET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to view the tutor's proposed dates.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Path A (Rollback):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* The student cancels. The UI sends an HTTP PUT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 (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{"status": "CANCELLED"}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52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○"/>
            </a:pP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frees the schedule in its DB and publishes a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TrialCancelled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message to RabbitMQ to notify the tutor.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Path B (Proceed to Pay):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* The student selects a date. The UI sends an HTTP POST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1" marL="9525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Char char="○"/>
            </a:pP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temporarily locks the slot as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PENDING_PAYMENT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Payment Orchestration: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acts as an orchestrator and sends a synchronous HTTP POST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Payment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microservice.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External API: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Payment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invokes an external mock payment gateway (sandbox version) to process the transaction.</a:t>
            </a:r>
            <a:endParaRPr sz="1100">
              <a:solidFill>
                <a:srgbClr val="1F1F1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98450" lvl="0" marL="495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100"/>
              <a:buAutoNum type="arabicPeriod"/>
            </a:pPr>
            <a:r>
              <a:rPr b="1"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Confirmation: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Upon success,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Payment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returns an HTTP 200 OK to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service.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Booking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updates the status to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CONFIRMED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and drops a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LessonConfirmed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message into RabbitMQ. The </a:t>
            </a:r>
            <a:r>
              <a:rPr lang="en-GB" sz="1100">
                <a:solidFill>
                  <a:srgbClr val="444746"/>
                </a:solidFill>
                <a:highlight>
                  <a:srgbClr val="E9EEF6"/>
                </a:highlight>
                <a:latin typeface="Arial"/>
                <a:ea typeface="Arial"/>
                <a:cs typeface="Arial"/>
                <a:sym typeface="Arial"/>
              </a:rPr>
              <a:t>Notification</a:t>
            </a:r>
            <a:r>
              <a:rPr lang="en-GB" sz="1100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rPr>
              <a:t> service emails the final calendar invite to both parties.</a:t>
            </a:r>
            <a:endParaRPr sz="2800"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g3d0eb5c93fb_0_27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d0eb5c93fb_0_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95" name="Google Shape;95;g3d0eb5c93fb_0_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3d0eb5c93fb_0_34:notes"/>
          <p:cNvSpPr txBox="1"/>
          <p:nvPr>
            <p:ph idx="12" type="sldNum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211138" y="144066"/>
            <a:ext cx="8721600" cy="38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211138" y="571499"/>
            <a:ext cx="8704200" cy="419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97180" lvl="0" marL="457200" algn="l">
              <a:spcBef>
                <a:spcPts val="360"/>
              </a:spcBef>
              <a:spcAft>
                <a:spcPts val="0"/>
              </a:spcAft>
              <a:buSzPts val="1080"/>
              <a:buChar char="●"/>
              <a:defRPr/>
            </a:lvl1pPr>
            <a:lvl2pPr indent="-274319" lvl="1" marL="914400" algn="l">
              <a:spcBef>
                <a:spcPts val="360"/>
              </a:spcBef>
              <a:spcAft>
                <a:spcPts val="0"/>
              </a:spcAft>
              <a:buSzPts val="720"/>
              <a:buChar char="○"/>
              <a:defRPr/>
            </a:lvl2pPr>
            <a:lvl3pPr indent="-262889" lvl="2" marL="1371600" algn="l">
              <a:spcBef>
                <a:spcPts val="360"/>
              </a:spcBef>
              <a:spcAft>
                <a:spcPts val="0"/>
              </a:spcAft>
              <a:buSzPts val="540"/>
              <a:buChar char="■"/>
              <a:defRPr/>
            </a:lvl3pPr>
            <a:lvl4pPr indent="-291464" lvl="3" marL="1828800" algn="l">
              <a:spcBef>
                <a:spcPts val="360"/>
              </a:spcBef>
              <a:spcAft>
                <a:spcPts val="0"/>
              </a:spcAft>
              <a:buSzPts val="990"/>
              <a:buChar char="●"/>
              <a:defRPr/>
            </a:lvl4pPr>
            <a:lvl5pPr indent="-285750" lvl="4" marL="2286000" algn="l">
              <a:spcBef>
                <a:spcPts val="36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l">
              <a:spcBef>
                <a:spcPts val="36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l">
              <a:spcBef>
                <a:spcPts val="36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l">
              <a:spcBef>
                <a:spcPts val="36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51850" y="4980385"/>
            <a:ext cx="352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1" i="0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>
            <p:ph type="title"/>
          </p:nvPr>
        </p:nvSpPr>
        <p:spPr>
          <a:xfrm>
            <a:off x="211150" y="73275"/>
            <a:ext cx="8932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Microservice Interaction Diagram 1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– Student Selects Tutor</a:t>
            </a:r>
            <a:endParaRPr sz="2000"/>
          </a:p>
        </p:txBody>
      </p:sp>
      <p:pic>
        <p:nvPicPr>
          <p:cNvPr id="60" name="Google Shape;60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45638" y="661375"/>
            <a:ext cx="5450681" cy="42362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11150" y="73275"/>
            <a:ext cx="8932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Microservice Interaction Diagram 2a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– Tutor Accepts Student, Arranges Trial Lesson</a:t>
            </a:r>
            <a:endParaRPr sz="2000"/>
          </a:p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8451850" y="4980385"/>
            <a:ext cx="352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5"/>
          <p:cNvSpPr txBox="1"/>
          <p:nvPr/>
        </p:nvSpPr>
        <p:spPr>
          <a:xfrm>
            <a:off x="-2127650" y="2477081"/>
            <a:ext cx="2338800" cy="18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sp>
        <p:nvSpPr>
          <p:cNvPr id="69" name="Google Shape;69;p15"/>
          <p:cNvSpPr txBox="1"/>
          <p:nvPr/>
        </p:nvSpPr>
        <p:spPr>
          <a:xfrm>
            <a:off x="-1661700" y="651244"/>
            <a:ext cx="1661700" cy="7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KONG API to replace ‘Get Interested Students’</a:t>
            </a:r>
            <a:endParaRPr sz="1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BTL (?)</a:t>
            </a:r>
            <a:endParaRPr sz="19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5000" y="745950"/>
            <a:ext cx="6711318" cy="42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211150" y="73275"/>
            <a:ext cx="8932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Microservice Interaction Diagram 2b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– Student Confirms Trial Lesson Booking</a:t>
            </a:r>
            <a:endParaRPr sz="2000"/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250" y="604275"/>
            <a:ext cx="4873186" cy="431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211150" y="73275"/>
            <a:ext cx="8932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Microservice Interaction Diagram 2c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– Student continues lesson with tutor after trial lesson</a:t>
            </a:r>
            <a:endParaRPr sz="2000"/>
          </a:p>
        </p:txBody>
      </p:sp>
      <p:pic>
        <p:nvPicPr>
          <p:cNvPr id="84" name="Google Shape;8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5675" y="818513"/>
            <a:ext cx="5357813" cy="39076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211150" y="73275"/>
            <a:ext cx="8932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Microservice Interaction Diagram 3a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– Student Cancels after tutor proposes trial booking</a:t>
            </a:r>
            <a:endParaRPr sz="2000"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51850" y="4980385"/>
            <a:ext cx="352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92" name="Google Shape;92;p18"/>
          <p:cNvPicPr preferRelativeResize="0"/>
          <p:nvPr/>
        </p:nvPicPr>
        <p:blipFill rotWithShape="1">
          <a:blip r:embed="rId3">
            <a:alphaModFix/>
          </a:blip>
          <a:srcRect b="0" l="0" r="0" t="11692"/>
          <a:stretch/>
        </p:blipFill>
        <p:spPr>
          <a:xfrm>
            <a:off x="1022950" y="812906"/>
            <a:ext cx="7309199" cy="3989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211150" y="73275"/>
            <a:ext cx="8932800" cy="53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Microservice Interaction Diagram 3b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– Tutor Cancels after Trial Lesson is confirmed </a:t>
            </a:r>
            <a:endParaRPr sz="2000"/>
          </a:p>
        </p:txBody>
      </p:sp>
      <p:sp>
        <p:nvSpPr>
          <p:cNvPr id="99" name="Google Shape;99;p19"/>
          <p:cNvSpPr txBox="1"/>
          <p:nvPr>
            <p:ph idx="12" type="sldNum"/>
          </p:nvPr>
        </p:nvSpPr>
        <p:spPr>
          <a:xfrm>
            <a:off x="8451850" y="4980385"/>
            <a:ext cx="352500" cy="1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9"/>
          <p:cNvSpPr txBox="1"/>
          <p:nvPr/>
        </p:nvSpPr>
        <p:spPr>
          <a:xfrm>
            <a:off x="-2127650" y="2477081"/>
            <a:ext cx="2338800" cy="18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6. 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rPr>
              <a:t> </a:t>
            </a:r>
            <a:endParaRPr sz="1100">
              <a:solidFill>
                <a:schemeClr val="dk1"/>
              </a:solidFill>
              <a:latin typeface="Tahoma"/>
              <a:ea typeface="Tahoma"/>
              <a:cs typeface="Tahoma"/>
              <a:sym typeface="Tahoma"/>
            </a:endParaRPr>
          </a:p>
        </p:txBody>
      </p:sp>
      <p:pic>
        <p:nvPicPr>
          <p:cNvPr id="101" name="Google Shape;101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2375" y="604275"/>
            <a:ext cx="4984375" cy="431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